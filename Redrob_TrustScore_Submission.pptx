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828800"/>
            <a:ext cx="5120640" cy="5120640"/>
          </a:xfrm>
          <a:prstGeom prst="ellipse">
            <a:avLst/>
          </a:prstGeom>
          <a:solidFill>
            <a:srgbClr val="2A2150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566160"/>
            <a:ext cx="3840480" cy="3840480"/>
          </a:xfrm>
          <a:prstGeom prst="ellipse">
            <a:avLst/>
          </a:prstGeom>
          <a:solidFill>
            <a:srgbClr val="241C46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8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1  ·  DATA &amp; AI CHALLENGE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17830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Redrob TrustScore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66928" y="2788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9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verified, evidence-based candidate ranking agent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66928" y="374904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Arcane009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413308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 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Abhinav Khatta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4517136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Divyanshu Kapariya · Abhinav Khatta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521208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D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the top 100 of 100,000 candidates for a Senior AI Engineer role — without keyword matching, dodging ~80 honeypots, on CPU in under 5 minutes.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github.com/Abhinav09-bits/redrob-trustscore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4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SOLUTION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autonomous, explainable ranking agent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candidate, TrustScore combines seven signals into one auditable score, then returns a ranked top-100 with a plain-language reason for each pick.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057400"/>
            <a:ext cx="5298948" cy="3749040"/>
          </a:xfrm>
          <a:prstGeom prst="roundRect">
            <a:avLst>
              <a:gd name="adj" fmla="val 1707"/>
            </a:avLst>
          </a:prstGeom>
          <a:solidFill>
            <a:srgbClr val="FFFFFF"/>
          </a:solidFill>
          <a:ln w="12700">
            <a:solidFill>
              <a:srgbClr val="E4DEF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2286000"/>
            <a:ext cx="47503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matching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" y="2788920"/>
            <a:ext cx="475030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Embeds the profile, ranks by similarity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anyone who stuffs the right keywords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Walks into honeypots / impossible profiles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box — “the model thought they’re similar”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23076" y="2057400"/>
            <a:ext cx="5298948" cy="3749040"/>
          </a:xfrm>
          <a:prstGeom prst="roundRect">
            <a:avLst>
              <a:gd name="adj" fmla="val 1707"/>
            </a:avLst>
          </a:prstGeom>
          <a:solidFill>
            <a:srgbClr val="EEE9FB"/>
          </a:solidFill>
          <a:ln w="12700">
            <a:solidFill>
              <a:srgbClr val="E4DEF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97396" y="2286000"/>
            <a:ext cx="47503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4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Redrob TrustScore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97396" y="2788920"/>
            <a:ext cx="475030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real career evidence — what they actually did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Penalizes the JD’s stated disqualifiers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Honeypot kill-switch sinks impossible profiles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whether the person is even reachable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score is auditable — no black box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D4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Arcane009</a:t>
            </a:r>
            <a:pPr algn="l" indent="0" marL="0">
              <a:buNone/>
            </a:pPr>
            <a:r>
              <a:rPr lang="en-US" sz="900" dirty="0">
                <a:solidFill>
                  <a:srgbClr val="6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Redrob TrustScore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524744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4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JD UNDERSTANDING &amp; CANDIDATE 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role needs — and the signals that decide fit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5298948" cy="4206240"/>
          </a:xfrm>
          <a:prstGeom prst="roundRect">
            <a:avLst>
              <a:gd name="adj" fmla="val 1522"/>
            </a:avLst>
          </a:prstGeom>
          <a:solidFill>
            <a:srgbClr val="FFFFFF"/>
          </a:solidFill>
          <a:ln w="12700">
            <a:solidFill>
              <a:srgbClr val="E4DEF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828800"/>
            <a:ext cx="47503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4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extracted from the JD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41248" y="2331720"/>
            <a:ext cx="475030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retrieval / embeddings, vector search, ranking &amp; evaluation (NDCG, MRR)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product companies — not pure research or services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5–9 years; strong Python; Indian metros (Pune, Noida)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Disqualifiers: title-chasers, consulting-only, research-only, CV/speech-only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23076" y="1600200"/>
            <a:ext cx="5298948" cy="4206240"/>
          </a:xfrm>
          <a:prstGeom prst="roundRect">
            <a:avLst>
              <a:gd name="adj" fmla="val 1522"/>
            </a:avLst>
          </a:prstGeom>
          <a:solidFill>
            <a:srgbClr val="EEE9FB"/>
          </a:solidFill>
          <a:ln w="12700">
            <a:solidFill>
              <a:srgbClr val="E4DEF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97396" y="1828800"/>
            <a:ext cx="47503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4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that decide fit (beyond keywords)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97396" y="2331720"/>
            <a:ext cx="475030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in career text — “built a learning-to-rank model”, “RAG in production”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job title + company type vs. a polished-but-fake skills list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availability: recent login, response rate, open-to-work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consistency — impossible timelines flag fakes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D4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Arcane009</a:t>
            </a:r>
            <a:pPr algn="l" indent="0" marL="0">
              <a:buNone/>
            </a:pPr>
            <a:r>
              <a:rPr lang="en-US" sz="900" dirty="0">
                <a:solidFill>
                  <a:srgbClr val="6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Redrob TrustScore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524744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4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RANKING 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signals combined into one TrustScore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11055096" cy="457200"/>
          </a:xfrm>
          <a:prstGeom prst="rect">
            <a:avLst/>
          </a:prstGeom>
          <a:solidFill>
            <a:srgbClr val="EEE9FB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554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4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fit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584448" y="15544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actual role on the AI/ML/search bullseye?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518904" y="1554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08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0.40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9808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4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84448" y="20116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/ ranking / ML work found in career text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518904" y="2011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08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0.32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468880"/>
            <a:ext cx="11055096" cy="457200"/>
          </a:xfrm>
          <a:prstGeom prst="rect">
            <a:avLst/>
          </a:prstGeom>
          <a:solidFill>
            <a:srgbClr val="EEE9FB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2468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4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84448" y="2468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5–9 year sweet spot, decaying outside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518904" y="24688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08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0.16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9808" y="2926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4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84448" y="29260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metro / Pune / Noida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518904" y="29260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08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0.12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3383280"/>
            <a:ext cx="11055096" cy="457200"/>
          </a:xfrm>
          <a:prstGeom prst="rect">
            <a:avLst/>
          </a:prstGeom>
          <a:solidFill>
            <a:srgbClr val="EEE9FB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3383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4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Disqualifiers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584448" y="33832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services-only, job-hopping, research-only, CV-only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518904" y="3383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08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penalty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9808" y="3840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4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584448" y="38404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login, response rate, open-to-work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518904" y="3840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08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0.55–1.10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66928" y="4297680"/>
            <a:ext cx="11055096" cy="457200"/>
          </a:xfrm>
          <a:prstGeom prst="rect">
            <a:avLst/>
          </a:prstGeom>
          <a:solidFill>
            <a:srgbClr val="EEE9FB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4297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4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/ sanity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84448" y="42976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honeypot consistency checks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518904" y="4297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08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kill-switch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66928" y="4864608"/>
            <a:ext cx="11055096" cy="914400"/>
          </a:xfrm>
          <a:prstGeom prst="roundRect">
            <a:avLst>
              <a:gd name="adj" fmla="val 7000"/>
            </a:avLst>
          </a:prstGeom>
          <a:solidFill>
            <a:srgbClr val="1B1535"/>
          </a:solidFill>
          <a:ln w="12700">
            <a:solidFill>
              <a:srgbClr val="E4DEF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41248" y="4937760"/>
            <a:ext cx="10506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(0.40·role + 0.32·evidence + 0.16·exp + 0.12·loc − penalties) × availability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B9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honeypots × 0.001 → they sink below the top 100   ·   rule-based, no GPU / no LLM at runtime   ·   ties broken by candidate_id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D4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Arcane009</a:t>
            </a:r>
            <a:pPr algn="l" indent="0" marL="0">
              <a:buNone/>
            </a:pPr>
            <a:r>
              <a:rPr lang="en-US" sz="900" dirty="0">
                <a:solidFill>
                  <a:srgbClr val="6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Redrob TrustScore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524744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4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EXPLAINABILITY &amp; DATA 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explained — and kept honest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3380232" cy="3108960"/>
          </a:xfrm>
          <a:prstGeom prst="roundRect">
            <a:avLst>
              <a:gd name="adj" fmla="val 2059"/>
            </a:avLst>
          </a:prstGeom>
          <a:solidFill>
            <a:srgbClr val="FFFFFF"/>
          </a:solidFill>
          <a:ln w="12700">
            <a:solidFill>
              <a:srgbClr val="E4DEF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965960"/>
            <a:ext cx="457200" cy="457200"/>
          </a:xfrm>
          <a:prstGeom prst="ellipse">
            <a:avLst/>
          </a:prstGeom>
          <a:solidFill>
            <a:srgbClr val="6D4AE0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2560320"/>
            <a:ext cx="2831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Explained from real data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3200400"/>
            <a:ext cx="28315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pick gets a 1–2 sentence reason built from the candidate’s own fields — title, years, evidence words present, response rate. Honest concerns (notice period, location) are surfaced too.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04360" y="1737360"/>
            <a:ext cx="3380232" cy="3108960"/>
          </a:xfrm>
          <a:prstGeom prst="roundRect">
            <a:avLst>
              <a:gd name="adj" fmla="val 2059"/>
            </a:avLst>
          </a:prstGeom>
          <a:solidFill>
            <a:srgbClr val="FFFFFF"/>
          </a:solidFill>
          <a:ln w="12700">
            <a:solidFill>
              <a:srgbClr val="E4DEF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78680" y="1965960"/>
            <a:ext cx="457200" cy="457200"/>
          </a:xfrm>
          <a:prstGeom prst="ellipse">
            <a:avLst/>
          </a:prstGeom>
          <a:solidFill>
            <a:srgbClr val="6D4AE0"/>
          </a:solidFill>
          <a:ln/>
        </p:spPr>
      </p:sp>
      <p:sp>
        <p:nvSpPr>
          <p:cNvPr id="11" name="Text 9"/>
          <p:cNvSpPr/>
          <p:nvPr/>
        </p:nvSpPr>
        <p:spPr>
          <a:xfrm>
            <a:off x="46786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78680" y="2560320"/>
            <a:ext cx="2831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hallucination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78680" y="3200400"/>
            <a:ext cx="28315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is templated from REAL field values, so it cannot invent skills or employers. The score is a transparent sum of named parts — every claim traces to a number.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41792" y="1737360"/>
            <a:ext cx="3380232" cy="3108960"/>
          </a:xfrm>
          <a:prstGeom prst="roundRect">
            <a:avLst>
              <a:gd name="adj" fmla="val 2059"/>
            </a:avLst>
          </a:prstGeom>
          <a:solidFill>
            <a:srgbClr val="EEE9FB"/>
          </a:solidFill>
          <a:ln w="12700">
            <a:solidFill>
              <a:srgbClr val="E4DEF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16112" y="1965960"/>
            <a:ext cx="457200" cy="457200"/>
          </a:xfrm>
          <a:prstGeom prst="ellipse">
            <a:avLst/>
          </a:prstGeom>
          <a:solidFill>
            <a:srgbClr val="6D4AE0"/>
          </a:solidFill>
          <a:ln/>
        </p:spPr>
      </p:sp>
      <p:sp>
        <p:nvSpPr>
          <p:cNvPr id="16" name="Text 14"/>
          <p:cNvSpPr/>
          <p:nvPr/>
        </p:nvSpPr>
        <p:spPr>
          <a:xfrm>
            <a:off x="8516112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16112" y="2560320"/>
            <a:ext cx="2831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/ impossible profiles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516112" y="3200400"/>
            <a:ext cx="28315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honeypot kill-switch flags impossible profiles (tenure &gt; experience, expert skill used 0 months, skill used longer than the career) and pushes them out of the top 100.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5074920"/>
            <a:ext cx="11055096" cy="685800"/>
          </a:xfrm>
          <a:prstGeom prst="roundRect">
            <a:avLst>
              <a:gd name="adj" fmla="val 9333"/>
            </a:avLst>
          </a:prstGeom>
          <a:solidFill>
            <a:srgbClr val="1B1535"/>
          </a:solidFill>
          <a:ln w="12700">
            <a:solidFill>
              <a:srgbClr val="E4DEF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41248" y="5074920"/>
            <a:ext cx="105064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8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verified: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honeypots and 0 keyword-stuffers in our top 100.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D4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Arcane009</a:t>
            </a:r>
            <a:pPr algn="l" indent="0" marL="0">
              <a:buNone/>
            </a:pPr>
            <a:r>
              <a:rPr lang="en-US" sz="900" dirty="0">
                <a:solidFill>
                  <a:srgbClr val="6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Redrob TrustScore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524744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4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END-TO-END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JD input to ranked output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246888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4DEF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76656" y="2084832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candidates.jsonl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76656" y="2523744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 profiles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29000" y="1920240"/>
            <a:ext cx="246888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4DEF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38728" y="2084832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evidence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538728" y="2523744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career-history text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91072" y="1920240"/>
            <a:ext cx="246888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4DEF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0" y="2084832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7 signals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0" y="2523744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+ evidence + …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53144" y="1920240"/>
            <a:ext cx="246888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4DEF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262872" y="2084832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Penalties + availability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262872" y="2523744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 disqualifiers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081528" y="2446020"/>
            <a:ext cx="301752" cy="0"/>
          </a:xfrm>
          <a:prstGeom prst="line">
            <a:avLst/>
          </a:prstGeom>
          <a:noFill/>
          <a:ln w="28575">
            <a:solidFill>
              <a:srgbClr val="F0892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943600" y="2446020"/>
            <a:ext cx="301752" cy="0"/>
          </a:xfrm>
          <a:prstGeom prst="line">
            <a:avLst/>
          </a:prstGeom>
          <a:noFill/>
          <a:ln w="28575">
            <a:solidFill>
              <a:srgbClr val="F0892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805672" y="2446020"/>
            <a:ext cx="301752" cy="0"/>
          </a:xfrm>
          <a:prstGeom prst="line">
            <a:avLst/>
          </a:prstGeom>
          <a:noFill/>
          <a:ln w="28575">
            <a:solidFill>
              <a:srgbClr val="F0892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0387584" y="2999232"/>
            <a:ext cx="0" cy="630936"/>
          </a:xfrm>
          <a:prstGeom prst="line">
            <a:avLst/>
          </a:prstGeom>
          <a:noFill/>
          <a:ln w="28575">
            <a:solidFill>
              <a:srgbClr val="F0892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66928" y="3657600"/>
            <a:ext cx="2468880" cy="1051560"/>
          </a:xfrm>
          <a:prstGeom prst="roundRect">
            <a:avLst>
              <a:gd name="adj" fmla="val 6087"/>
            </a:avLst>
          </a:prstGeom>
          <a:solidFill>
            <a:srgbClr val="EEE9FB"/>
          </a:solidFill>
          <a:ln w="12700">
            <a:solidFill>
              <a:srgbClr val="E4DEF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6656" y="3822192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XLSX / CSV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76656" y="4261104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29000" y="3657600"/>
            <a:ext cx="2468880" cy="1051560"/>
          </a:xfrm>
          <a:prstGeom prst="roundRect">
            <a:avLst>
              <a:gd name="adj" fmla="val 6087"/>
            </a:avLst>
          </a:prstGeom>
          <a:solidFill>
            <a:srgbClr val="EEE9FB"/>
          </a:solidFill>
          <a:ln w="12700">
            <a:solidFill>
              <a:srgbClr val="E4DEF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538728" y="3822192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reasoning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538728" y="4261104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fact-grounded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91072" y="3657600"/>
            <a:ext cx="2468880" cy="1051560"/>
          </a:xfrm>
          <a:prstGeom prst="roundRect">
            <a:avLst>
              <a:gd name="adj" fmla="val 6087"/>
            </a:avLst>
          </a:prstGeom>
          <a:solidFill>
            <a:srgbClr val="EEE9FB"/>
          </a:solidFill>
          <a:ln w="12700">
            <a:solidFill>
              <a:srgbClr val="E4DEF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00800" y="3822192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&amp; take top 100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400800" y="4261104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1..100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153144" y="3657600"/>
            <a:ext cx="2468880" cy="1051560"/>
          </a:xfrm>
          <a:prstGeom prst="roundRect">
            <a:avLst>
              <a:gd name="adj" fmla="val 6087"/>
            </a:avLst>
          </a:prstGeom>
          <a:solidFill>
            <a:srgbClr val="EEE9FB"/>
          </a:solidFill>
          <a:ln w="12700">
            <a:solidFill>
              <a:srgbClr val="E4DEF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262872" y="3822192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Honeypot kill-switch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9262872" y="4261104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 fakes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081528" y="4183380"/>
            <a:ext cx="301752" cy="0"/>
          </a:xfrm>
          <a:prstGeom prst="line">
            <a:avLst/>
          </a:prstGeom>
          <a:noFill/>
          <a:ln w="28575">
            <a:solidFill>
              <a:srgbClr val="F0892B"/>
            </a:solidFill>
            <a:prstDash val="solid"/>
            <a:headEnd type="triangle"/>
          </a:ln>
        </p:spPr>
      </p:sp>
      <p:sp>
        <p:nvSpPr>
          <p:cNvPr id="33" name="Shape 31"/>
          <p:cNvSpPr/>
          <p:nvPr/>
        </p:nvSpPr>
        <p:spPr>
          <a:xfrm>
            <a:off x="5943600" y="4183380"/>
            <a:ext cx="301752" cy="0"/>
          </a:xfrm>
          <a:prstGeom prst="line">
            <a:avLst/>
          </a:prstGeom>
          <a:noFill/>
          <a:ln w="28575">
            <a:solidFill>
              <a:srgbClr val="F0892B"/>
            </a:solidFill>
            <a:prstDash val="solid"/>
            <a:headEnd type="triangle"/>
          </a:ln>
        </p:spPr>
      </p:sp>
      <p:sp>
        <p:nvSpPr>
          <p:cNvPr id="34" name="Shape 32"/>
          <p:cNvSpPr/>
          <p:nvPr/>
        </p:nvSpPr>
        <p:spPr>
          <a:xfrm>
            <a:off x="8805672" y="4183380"/>
            <a:ext cx="301752" cy="0"/>
          </a:xfrm>
          <a:prstGeom prst="line">
            <a:avLst/>
          </a:prstGeom>
          <a:noFill/>
          <a:ln w="28575">
            <a:solidFill>
              <a:srgbClr val="F0892B"/>
            </a:solidFill>
            <a:prstDash val="solid"/>
            <a:headEnd type="triangle"/>
          </a:ln>
        </p:spPr>
      </p:sp>
      <p:sp>
        <p:nvSpPr>
          <p:cNvPr id="35" name="Text 33"/>
          <p:cNvSpPr/>
          <p:nvPr/>
        </p:nvSpPr>
        <p:spPr>
          <a:xfrm>
            <a:off x="566928" y="5029200"/>
            <a:ext cx="11055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4A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Single command:   python rank.py --candidates ./data/candidates.jsonl --out ./submission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66928" y="5349240"/>
            <a:ext cx="11055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runtime ~17 seconds on CPU, no network.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D4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Arcane009</a:t>
            </a:r>
            <a:pPr algn="l" indent="0" marL="0">
              <a:buNone/>
            </a:pPr>
            <a:r>
              <a:rPr lang="en-US" sz="900" dirty="0">
                <a:solidFill>
                  <a:srgbClr val="6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Redrob TrustScore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524744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4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Layered, dependency-light, reproducible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11055096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4DEF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86968" y="1691640"/>
            <a:ext cx="10415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LAYER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86968" y="2002536"/>
            <a:ext cx="10415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candidates.jsonl (100K profiles)  +  Job Description requirements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094476" y="2359152"/>
            <a:ext cx="0" cy="146304"/>
          </a:xfrm>
          <a:prstGeom prst="line">
            <a:avLst/>
          </a:prstGeom>
          <a:noFill/>
          <a:ln w="28575">
            <a:solidFill>
              <a:srgbClr val="F0892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66928" y="2514600"/>
            <a:ext cx="11055096" cy="749808"/>
          </a:xfrm>
          <a:prstGeom prst="roundRect">
            <a:avLst>
              <a:gd name="adj" fmla="val 8537"/>
            </a:avLst>
          </a:prstGeom>
          <a:solidFill>
            <a:srgbClr val="EEE9FB"/>
          </a:solidFill>
          <a:ln w="12700">
            <a:solidFill>
              <a:srgbClr val="E4DEF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86968" y="2606040"/>
            <a:ext cx="10415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/ EVIDENCE EXTRACTION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86968" y="2916936"/>
            <a:ext cx="10415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career-history text · titles · skills · redrob behavioral signals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94476" y="3273552"/>
            <a:ext cx="0" cy="146304"/>
          </a:xfrm>
          <a:prstGeom prst="line">
            <a:avLst/>
          </a:prstGeom>
          <a:noFill/>
          <a:ln w="28575">
            <a:solidFill>
              <a:srgbClr val="F0892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66928" y="3429000"/>
            <a:ext cx="11055096" cy="749808"/>
          </a:xfrm>
          <a:prstGeom prst="roundRect">
            <a:avLst>
              <a:gd name="adj" fmla="val 8537"/>
            </a:avLst>
          </a:prstGeom>
          <a:solidFill>
            <a:srgbClr val="6D4AE0"/>
          </a:solidFill>
          <a:ln w="12700">
            <a:solidFill>
              <a:srgbClr val="E4DEF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86968" y="3520440"/>
            <a:ext cx="10415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ENGINE  (rule-based)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86968" y="3831336"/>
            <a:ext cx="10415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· evidence · experience · location · penalties · availability · honeypot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94476" y="4187952"/>
            <a:ext cx="0" cy="146304"/>
          </a:xfrm>
          <a:prstGeom prst="line">
            <a:avLst/>
          </a:prstGeom>
          <a:noFill/>
          <a:ln w="28575">
            <a:solidFill>
              <a:srgbClr val="F0892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66928" y="4343400"/>
            <a:ext cx="11055096" cy="749808"/>
          </a:xfrm>
          <a:prstGeom prst="roundRect">
            <a:avLst>
              <a:gd name="adj" fmla="val 8537"/>
            </a:avLst>
          </a:prstGeom>
          <a:solidFill>
            <a:srgbClr val="EEE9FB"/>
          </a:solidFill>
          <a:ln w="12700">
            <a:solidFill>
              <a:srgbClr val="E4DEF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86968" y="4434840"/>
            <a:ext cx="10415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86968" y="4745736"/>
            <a:ext cx="10415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sort  →  top 100  →  fact-grounded reasoning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94476" y="5102352"/>
            <a:ext cx="0" cy="146304"/>
          </a:xfrm>
          <a:prstGeom prst="line">
            <a:avLst/>
          </a:prstGeom>
          <a:noFill/>
          <a:ln w="28575">
            <a:solidFill>
              <a:srgbClr val="F0892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66928" y="5257800"/>
            <a:ext cx="11055096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4DEF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86968" y="5349240"/>
            <a:ext cx="10415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 +  QA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86968" y="5660136"/>
            <a:ext cx="10415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submission.xlsx / .csv   ·   qa.py validates format &amp; traps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66928" y="6217920"/>
            <a:ext cx="11055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CPU-only · no GPU · no network · pure Python + openpyxl · ~17s / 100K · &lt; 16 GB RAM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D4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Arcane009</a:t>
            </a:r>
            <a:pPr algn="l" indent="0" marL="0">
              <a:buNone/>
            </a:pPr>
            <a:r>
              <a:rPr lang="en-US" sz="900" dirty="0">
                <a:solidFill>
                  <a:srgbClr val="6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Redrob TrustScore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524744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4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RESULTS &amp; 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High-quality ranking, well within compute limits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2420874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E4DEF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965960"/>
            <a:ext cx="22379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D4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04088" y="2788920"/>
            <a:ext cx="21465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ranked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45002" y="1737360"/>
            <a:ext cx="2420874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E4DEF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36442" y="1965960"/>
            <a:ext cx="22379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D4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~17 s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582162" y="2788920"/>
            <a:ext cx="21465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on CPU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23076" y="1737360"/>
            <a:ext cx="2420874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E4DEF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14516" y="1965960"/>
            <a:ext cx="22379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D4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460236" y="2788920"/>
            <a:ext cx="21465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honeypots in top 100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201150" y="1737360"/>
            <a:ext cx="2420874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E4DEF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292590" y="1965960"/>
            <a:ext cx="22379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D4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338310" y="2788920"/>
            <a:ext cx="21465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keyword-stuffers in top 100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" y="3840480"/>
            <a:ext cx="1105509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Top-100 is 100% relevant roles — ML / AI / NLP / Search / Recommendation engineers, no distractor titles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spot-checks confirm every reason matches the real profile (no hallucination)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met with huge margin: 17 s vs 5-min budget, CPU-only, zero network calls, &lt; 16 GB RAM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validated: exactly 100 unique ranks &amp; IDs, all IDs exist, scores non-increasing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D4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Arcane009</a:t>
            </a:r>
            <a:pPr algn="l" indent="0" marL="0">
              <a:buNone/>
            </a:pPr>
            <a:r>
              <a:rPr lang="en-US" sz="900" dirty="0">
                <a:solidFill>
                  <a:srgbClr val="6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Redrob TrustScore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524744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4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TECHNOLOGIES USED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for speed, reproducibility, zero runtime deps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11055096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4DEF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95528" y="1892808"/>
            <a:ext cx="365760" cy="365760"/>
          </a:xfrm>
          <a:prstGeom prst="ellipse">
            <a:avLst/>
          </a:prstGeom>
          <a:solidFill>
            <a:srgbClr val="6D4AE0"/>
          </a:solidFill>
          <a:ln/>
        </p:spPr>
      </p:sp>
      <p:sp>
        <p:nvSpPr>
          <p:cNvPr id="6" name="Text 4"/>
          <p:cNvSpPr/>
          <p:nvPr/>
        </p:nvSpPr>
        <p:spPr>
          <a:xfrm>
            <a:off x="1389888" y="180136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4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(stdlib)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864608" y="1801368"/>
            <a:ext cx="6483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parsing, scoring, CSV output — runtime in seconds, fully reproducible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2569464"/>
            <a:ext cx="11055096" cy="768096"/>
          </a:xfrm>
          <a:prstGeom prst="roundRect">
            <a:avLst>
              <a:gd name="adj" fmla="val 8333"/>
            </a:avLst>
          </a:prstGeom>
          <a:solidFill>
            <a:srgbClr val="EEE9FB"/>
          </a:solidFill>
          <a:ln w="12700">
            <a:solidFill>
              <a:srgbClr val="E4DEF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95528" y="2770632"/>
            <a:ext cx="365760" cy="365760"/>
          </a:xfrm>
          <a:prstGeom prst="ellipse">
            <a:avLst/>
          </a:prstGeom>
          <a:solidFill>
            <a:srgbClr val="6D4AE0"/>
          </a:solidFill>
          <a:ln/>
        </p:spPr>
      </p:sp>
      <p:sp>
        <p:nvSpPr>
          <p:cNvPr id="10" name="Text 8"/>
          <p:cNvSpPr/>
          <p:nvPr/>
        </p:nvSpPr>
        <p:spPr>
          <a:xfrm>
            <a:off x="1389888" y="267919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4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openpyxl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64608" y="2679192"/>
            <a:ext cx="6483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emits the XLSX output the portal requests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3447288"/>
            <a:ext cx="11055096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4DEF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95528" y="3648456"/>
            <a:ext cx="365760" cy="365760"/>
          </a:xfrm>
          <a:prstGeom prst="ellipse">
            <a:avLst/>
          </a:prstGeom>
          <a:solidFill>
            <a:srgbClr val="6D4AE0"/>
          </a:solidFill>
          <a:ln/>
        </p:spPr>
      </p:sp>
      <p:sp>
        <p:nvSpPr>
          <p:cNvPr id="14" name="Text 12"/>
          <p:cNvSpPr/>
          <p:nvPr/>
        </p:nvSpPr>
        <p:spPr>
          <a:xfrm>
            <a:off x="1389888" y="355701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4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scoring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64608" y="3557016"/>
            <a:ext cx="6483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NO LLM / GPU at runtime → meets 5-min CPU, no-network budget; scales to 200K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4325112"/>
            <a:ext cx="11055096" cy="768096"/>
          </a:xfrm>
          <a:prstGeom prst="roundRect">
            <a:avLst>
              <a:gd name="adj" fmla="val 8333"/>
            </a:avLst>
          </a:prstGeom>
          <a:solidFill>
            <a:srgbClr val="EEE9FB"/>
          </a:solidFill>
          <a:ln w="12700">
            <a:solidFill>
              <a:srgbClr val="E4DEF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95528" y="4526280"/>
            <a:ext cx="365760" cy="365760"/>
          </a:xfrm>
          <a:prstGeom prst="ellipse">
            <a:avLst/>
          </a:prstGeom>
          <a:solidFill>
            <a:srgbClr val="6D4AE0"/>
          </a:solidFill>
          <a:ln/>
        </p:spPr>
      </p:sp>
      <p:sp>
        <p:nvSpPr>
          <p:cNvPr id="18" name="Text 16"/>
          <p:cNvSpPr/>
          <p:nvPr/>
        </p:nvSpPr>
        <p:spPr>
          <a:xfrm>
            <a:off x="1389888" y="44348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4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64608" y="4434840"/>
            <a:ext cx="6483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versioned, reproducible repo with a single reproduce command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66928" y="5202936"/>
            <a:ext cx="11055096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4DEF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95528" y="5404104"/>
            <a:ext cx="365760" cy="365760"/>
          </a:xfrm>
          <a:prstGeom prst="ellipse">
            <a:avLst/>
          </a:prstGeom>
          <a:solidFill>
            <a:srgbClr val="6D4AE0"/>
          </a:solidFill>
          <a:ln/>
        </p:spPr>
      </p:sp>
      <p:sp>
        <p:nvSpPr>
          <p:cNvPr id="22" name="Text 20"/>
          <p:cNvSpPr/>
          <p:nvPr/>
        </p:nvSpPr>
        <p:spPr>
          <a:xfrm>
            <a:off x="1389888" y="5312664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4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864608" y="5312664"/>
            <a:ext cx="6483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sandbox demo for live verification on a small sample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6928" y="609904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(Claude) used for code review &amp; drafting — declared honestly; no candidate data sent to any LLM, no LLM in the ranking path.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D4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Arcane009</a:t>
            </a:r>
            <a:pPr algn="l" indent="0" marL="0">
              <a:buNone/>
            </a:pPr>
            <a:r>
              <a:rPr lang="en-US" sz="900" dirty="0">
                <a:solidFill>
                  <a:srgbClr val="6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Redrob TrustScore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524744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4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SUBMISSION ASSETS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to reproduce and verify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5298948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4DEF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901952"/>
            <a:ext cx="47503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4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41248" y="2286000"/>
            <a:ext cx="47503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github.com/Abhinav09-bits/redrob-trustscore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23076" y="1737360"/>
            <a:ext cx="5298948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4DEF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97396" y="1901952"/>
            <a:ext cx="47503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4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sandbox demo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97396" y="2286000"/>
            <a:ext cx="47503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redrob-trustscore-gba7ntzmq5cwxtkp6ghgkn.streamlit.app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3063240"/>
            <a:ext cx="5298948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4DEF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1248" y="3227832"/>
            <a:ext cx="47503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4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 command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41248" y="3611880"/>
            <a:ext cx="47503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rank.py --candidates ./data/candidates.jsonl --out ./submission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23076" y="3063240"/>
            <a:ext cx="5298948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4DEF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97396" y="3227832"/>
            <a:ext cx="47503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4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output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97396" y="3611880"/>
            <a:ext cx="47503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submission.xlsx (+ submission.csv) — top 100 with reasoning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4389120"/>
            <a:ext cx="5298948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4DEF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1248" y="4553712"/>
            <a:ext cx="47503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4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script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1248" y="4937760"/>
            <a:ext cx="47503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qa.py — verifies valid format and zero traps in the top 100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23076" y="4389120"/>
            <a:ext cx="5298948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4DEF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97396" y="4553712"/>
            <a:ext cx="47503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4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97396" y="4937760"/>
            <a:ext cx="47503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submission_metadata.yaml — team, compute env, honest AI-tools declaration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D4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Arcane009</a:t>
            </a:r>
            <a:pPr algn="l" indent="0" marL="0">
              <a:buNone/>
            </a:pPr>
            <a:r>
              <a:rPr lang="en-US" sz="900" dirty="0">
                <a:solidFill>
                  <a:srgbClr val="6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Redrob TrustScore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524744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1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657600"/>
            <a:ext cx="4754880" cy="4754880"/>
          </a:xfrm>
          <a:prstGeom prst="ellipse">
            <a:avLst/>
          </a:prstGeom>
          <a:solidFill>
            <a:srgbClr val="241C46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645920"/>
            <a:ext cx="4206240" cy="4206240"/>
          </a:xfrm>
          <a:prstGeom prst="ellipse">
            <a:avLst/>
          </a:prstGeom>
          <a:solidFill>
            <a:srgbClr val="2A2150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21945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66928" y="3200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9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Redrob TrustScore — judging candidates on verified evidence, explainably.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66928" y="40233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Arcane009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B9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github.com/Abhinav09-bits/redrob-trustscore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B9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redrob-trustscore-gba7ntzmq5cwxtkp6ghgkn.streamlit.app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Redrob TrustScore</dc:title>
  <dc:subject>PptxGenJS Presentation</dc:subject>
  <dc:creator>Team Arcane009</dc:creator>
  <cp:lastModifiedBy>Team Arcane009</cp:lastModifiedBy>
  <cp:revision>1</cp:revision>
  <dcterms:created xsi:type="dcterms:W3CDTF">2026-06-30T00:28:39Z</dcterms:created>
  <dcterms:modified xsi:type="dcterms:W3CDTF">2026-06-30T00:28:39Z</dcterms:modified>
</cp:coreProperties>
</file>